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laypen Sans Bold" charset="1" panose="00000000000000000000"/>
      <p:regular r:id="rId18"/>
    </p:embeddedFont>
    <p:embeddedFont>
      <p:font typeface="The Seasons Bold Italics" charset="1" panose="00000000000000000000"/>
      <p:regular r:id="rId19"/>
    </p:embeddedFont>
    <p:embeddedFont>
      <p:font typeface="Canva Sans Bold Italics" charset="1" panose="020B0803030501040103"/>
      <p:regular r:id="rId20"/>
    </p:embeddedFont>
    <p:embeddedFont>
      <p:font typeface="The Seasons Italics" charset="1" panose="00000000000000000000"/>
      <p:regular r:id="rId21"/>
    </p:embeddedFont>
    <p:embeddedFont>
      <p:font typeface="Glacial Indifference Bold" charset="1" panose="00000800000000000000"/>
      <p:regular r:id="rId22"/>
    </p:embeddedFont>
    <p:embeddedFont>
      <p:font typeface="Antic Bold" charset="1" panose="00000000000000000000"/>
      <p:regular r:id="rId23"/>
    </p:embeddedFont>
    <p:embeddedFont>
      <p:font typeface="League Spartan" charset="1" panose="00000800000000000000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1493" y="3463288"/>
            <a:ext cx="17123255" cy="3360424"/>
            <a:chOff x="0" y="0"/>
            <a:chExt cx="22831007" cy="44805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97075"/>
              <a:ext cx="5599381" cy="4127471"/>
            </a:xfrm>
            <a:custGeom>
              <a:avLst/>
              <a:gdLst/>
              <a:ahLst/>
              <a:cxnLst/>
              <a:rect r="r" b="b" t="t" l="l"/>
              <a:pathLst>
                <a:path h="4127471" w="5599381">
                  <a:moveTo>
                    <a:pt x="0" y="0"/>
                  </a:moveTo>
                  <a:lnTo>
                    <a:pt x="5599381" y="0"/>
                  </a:lnTo>
                  <a:lnTo>
                    <a:pt x="5599381" y="4127471"/>
                  </a:lnTo>
                  <a:lnTo>
                    <a:pt x="0" y="4127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334" t="-52696" r="-45398" b="-6190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4996056" y="200025"/>
              <a:ext cx="17834951" cy="4280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490"/>
                </a:lnSpc>
              </a:pPr>
              <a:r>
                <a:rPr lang="en-US" b="true" sz="22063" spc="2073">
                  <a:solidFill>
                    <a:srgbClr val="34314B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L</a:t>
              </a:r>
              <a:r>
                <a:rPr lang="en-US" b="true" sz="22063" spc="2073">
                  <a:solidFill>
                    <a:srgbClr val="657B4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T</a:t>
              </a:r>
              <a:r>
                <a:rPr lang="en-US" b="true" sz="22063" spc="2073">
                  <a:solidFill>
                    <a:srgbClr val="34314B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R</a:t>
              </a:r>
              <a:r>
                <a:rPr lang="en-US" b="true" sz="22063" spc="2073">
                  <a:solidFill>
                    <a:srgbClr val="667C50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E</a:t>
              </a:r>
              <a:r>
                <a:rPr lang="en-US" b="true" sz="22063" spc="2073">
                  <a:solidFill>
                    <a:srgbClr val="34314B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O</a:t>
              </a:r>
              <a:r>
                <a:rPr lang="en-US" b="true" sz="22063" spc="2073">
                  <a:solidFill>
                    <a:srgbClr val="657A4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7265" y="853009"/>
            <a:ext cx="7146426" cy="5492590"/>
          </a:xfrm>
          <a:custGeom>
            <a:avLst/>
            <a:gdLst/>
            <a:ahLst/>
            <a:cxnLst/>
            <a:rect r="r" b="b" t="t" l="l"/>
            <a:pathLst>
              <a:path h="5492590" w="7146426">
                <a:moveTo>
                  <a:pt x="0" y="0"/>
                </a:moveTo>
                <a:lnTo>
                  <a:pt x="7146426" y="0"/>
                </a:lnTo>
                <a:lnTo>
                  <a:pt x="7146426" y="5492589"/>
                </a:lnTo>
                <a:lnTo>
                  <a:pt x="0" y="5492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583" t="-11349" r="-21455" b="-1091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432897"/>
            <a:ext cx="2047833" cy="5825403"/>
          </a:xfrm>
          <a:custGeom>
            <a:avLst/>
            <a:gdLst/>
            <a:ahLst/>
            <a:cxnLst/>
            <a:rect r="r" b="b" t="t" l="l"/>
            <a:pathLst>
              <a:path h="5825403" w="2047833">
                <a:moveTo>
                  <a:pt x="0" y="0"/>
                </a:moveTo>
                <a:lnTo>
                  <a:pt x="2047833" y="0"/>
                </a:lnTo>
                <a:lnTo>
                  <a:pt x="2047833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650" t="0" r="-289316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723900"/>
            <a:ext cx="7295761" cy="2708997"/>
            <a:chOff x="0" y="0"/>
            <a:chExt cx="9727681" cy="361199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418181" cy="1845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870"/>
                </a:lnSpc>
              </a:pPr>
              <a:r>
                <a:rPr lang="en-US" b="true" sz="9870" i="true" spc="-197">
                  <a:solidFill>
                    <a:srgbClr val="79995D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P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418181" y="171450"/>
              <a:ext cx="5150188" cy="1572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8632"/>
                </a:lnSpc>
              </a:pPr>
              <a:r>
                <a:rPr lang="en-US" b="true" sz="8632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roblem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747414"/>
              <a:ext cx="1059714" cy="1465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87"/>
                </a:lnSpc>
              </a:pPr>
              <a:r>
                <a:rPr lang="en-US" sz="7887" i="true" spc="-157">
                  <a:solidFill>
                    <a:srgbClr val="79995D"/>
                  </a:solidFill>
                  <a:latin typeface="The Seasons Italics"/>
                  <a:ea typeface="The Seasons Italics"/>
                  <a:cs typeface="The Seasons Italics"/>
                  <a:sym typeface="The Seasons Italics"/>
                </a:rPr>
                <a:t>C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295824" y="1766464"/>
              <a:ext cx="1418181" cy="18455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870"/>
                </a:lnSpc>
              </a:pPr>
              <a:r>
                <a:rPr lang="en-US" b="true" sz="9870" i="true" spc="-197">
                  <a:solidFill>
                    <a:srgbClr val="79995D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F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00422" y="1758086"/>
              <a:ext cx="8827259" cy="1236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6734"/>
                </a:lnSpc>
              </a:pPr>
              <a:r>
                <a:rPr lang="en-US" b="true" sz="6734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ritical    ailurs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076533" y="3741268"/>
            <a:ext cx="2959180" cy="49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  <a:spcBef>
                <a:spcPct val="0"/>
              </a:spcBef>
            </a:pPr>
            <a:r>
              <a:rPr lang="en-US" b="true" sz="3799" spc="-75">
                <a:solidFill>
                  <a:srgbClr val="3431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Psychological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76533" y="4362929"/>
            <a:ext cx="3932112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Employee</a:t>
            </a:r>
            <a:r>
              <a:rPr lang="en-US" sz="2000" spc="-40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s hide incidents due to fear and confusion.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76533" y="5623404"/>
            <a:ext cx="2594372" cy="49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  <a:spcBef>
                <a:spcPct val="0"/>
              </a:spcBef>
            </a:pPr>
            <a:r>
              <a:rPr lang="en-US" b="true" sz="3799" spc="-75">
                <a:solidFill>
                  <a:srgbClr val="3431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</a:t>
            </a:r>
            <a:r>
              <a:rPr lang="en-US" b="true" sz="3799" spc="-75">
                <a:solidFill>
                  <a:srgbClr val="3431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76533" y="6245065"/>
            <a:ext cx="3932112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No sy</a:t>
            </a:r>
            <a:r>
              <a:rPr lang="en-US" sz="2000" spc="-40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stem to triage, route, or respond.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76533" y="7257890"/>
            <a:ext cx="1187648" cy="49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  <a:spcBef>
                <a:spcPct val="0"/>
              </a:spcBef>
            </a:pPr>
            <a:r>
              <a:rPr lang="en-US" b="true" sz="3799" spc="-75">
                <a:solidFill>
                  <a:srgbClr val="3431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</a:t>
            </a:r>
            <a:r>
              <a:rPr lang="en-US" b="true" sz="3799" spc="-75">
                <a:solidFill>
                  <a:srgbClr val="3431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egal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76533" y="7879551"/>
            <a:ext cx="4989949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  <a:spcBef>
                <a:spcPct val="0"/>
              </a:spcBef>
            </a:pPr>
            <a:r>
              <a:rPr lang="en-US" sz="2000" spc="-40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Lack of immu</a:t>
            </a:r>
            <a:r>
              <a:rPr lang="en-US" sz="2000" spc="-40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table audit trails exposes companies to heavy fines and compliance violations (e.g., Law 18-07).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94982" y="7276528"/>
            <a:ext cx="8830991" cy="167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0"/>
              </a:lnSpc>
            </a:pPr>
            <a:r>
              <a:rPr lang="en-US" sz="5883" spc="553">
                <a:solidFill>
                  <a:srgbClr val="3431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does </a:t>
            </a:r>
            <a:r>
              <a:rPr lang="en-US" sz="5883" spc="553">
                <a:solidFill>
                  <a:srgbClr val="667C4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Altreon </a:t>
            </a:r>
            <a:r>
              <a:rPr lang="en-US" sz="5883" spc="553">
                <a:solidFill>
                  <a:srgbClr val="3431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solve this 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622649" y="8621836"/>
            <a:ext cx="1273303" cy="1272927"/>
            <a:chOff x="0" y="0"/>
            <a:chExt cx="1697737" cy="16972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52609" y="152109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8" y="0"/>
                  </a:lnTo>
                  <a:lnTo>
                    <a:pt x="1545128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7" y="0"/>
                  </a:lnTo>
                  <a:lnTo>
                    <a:pt x="1545127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205" y="3208228"/>
            <a:ext cx="1946965" cy="6004274"/>
          </a:xfrm>
          <a:custGeom>
            <a:avLst/>
            <a:gdLst/>
            <a:ahLst/>
            <a:cxnLst/>
            <a:rect r="r" b="b" t="t" l="l"/>
            <a:pathLst>
              <a:path h="6004274" w="1946965">
                <a:moveTo>
                  <a:pt x="0" y="0"/>
                </a:moveTo>
                <a:lnTo>
                  <a:pt x="1946965" y="0"/>
                </a:lnTo>
                <a:lnTo>
                  <a:pt x="1946965" y="6004274"/>
                </a:lnTo>
                <a:lnTo>
                  <a:pt x="0" y="6004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059" t="0" r="-33481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06833" y="3503981"/>
            <a:ext cx="4065988" cy="50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b="true" sz="3809" spc="-76">
                <a:solidFill>
                  <a:srgbClr val="3431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Friendly Interface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15639" y="4171028"/>
            <a:ext cx="4252382" cy="24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  <a:spcBef>
                <a:spcPct val="0"/>
              </a:spcBef>
            </a:pPr>
            <a:r>
              <a:rPr lang="en-US" sz="1870" spc="-37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Remove</a:t>
            </a:r>
            <a:r>
              <a:rPr lang="en-US" sz="1870" spc="-37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s fear from reporting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06833" y="5402922"/>
            <a:ext cx="3247202" cy="50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b="true" sz="3809" spc="-76">
                <a:solidFill>
                  <a:srgbClr val="3431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Central Alerts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06833" y="6066827"/>
            <a:ext cx="6134443" cy="47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</a:pPr>
            <a:r>
              <a:rPr lang="en-US" sz="1870" spc="-37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Unifi</a:t>
            </a:r>
            <a:r>
              <a:rPr lang="en-US" sz="1870" spc="-37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es alerts from antivirus, firewalls, and endpoints</a:t>
            </a:r>
          </a:p>
          <a:p>
            <a:pPr algn="l">
              <a:lnSpc>
                <a:spcPts val="1870"/>
              </a:lnSpc>
              <a:spcBef>
                <a:spcPct val="0"/>
              </a:spcBef>
            </a:pPr>
            <a:r>
              <a:rPr lang="en-US" sz="1870" spc="-37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Correlates SOC signals, logs, and user-reported incidents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06833" y="7416564"/>
            <a:ext cx="4261188" cy="50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b="true" sz="3809" spc="-76">
                <a:solidFill>
                  <a:srgbClr val="34314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Corellation Engine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06833" y="8083611"/>
            <a:ext cx="6706442" cy="47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0"/>
              </a:lnSpc>
              <a:spcBef>
                <a:spcPct val="0"/>
              </a:spcBef>
            </a:pPr>
            <a:r>
              <a:rPr lang="en-US" sz="1870" spc="-37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A correlation engin</a:t>
            </a:r>
            <a:r>
              <a:rPr lang="en-US" sz="1870" spc="-37">
                <a:solidFill>
                  <a:srgbClr val="34314B"/>
                </a:solidFill>
                <a:latin typeface="Antic Bold"/>
                <a:ea typeface="Antic Bold"/>
                <a:cs typeface="Antic Bold"/>
                <a:sym typeface="Antic Bold"/>
              </a:rPr>
              <a:t>e links alerts, logs, and user reports to detect and prioritize real incidents instantly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622649" y="8576038"/>
            <a:ext cx="1273303" cy="1272927"/>
            <a:chOff x="0" y="0"/>
            <a:chExt cx="1697737" cy="16972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2609" y="152109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8" y="0"/>
                  </a:lnTo>
                  <a:lnTo>
                    <a:pt x="1545128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7" y="0"/>
                  </a:lnTo>
                  <a:lnTo>
                    <a:pt x="1545127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993499" y="1028700"/>
            <a:ext cx="4629150" cy="8229600"/>
          </a:xfrm>
          <a:custGeom>
            <a:avLst/>
            <a:gdLst/>
            <a:ahLst/>
            <a:cxnLst/>
            <a:rect r="r" b="b" t="t" l="l"/>
            <a:pathLst>
              <a:path h="8229600" w="4629150">
                <a:moveTo>
                  <a:pt x="0" y="0"/>
                </a:moveTo>
                <a:lnTo>
                  <a:pt x="4629150" y="0"/>
                </a:lnTo>
                <a:lnTo>
                  <a:pt x="46291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1028700"/>
            <a:ext cx="7409698" cy="2030820"/>
            <a:chOff x="0" y="0"/>
            <a:chExt cx="9879597" cy="270776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238125"/>
              <a:ext cx="2292789" cy="2469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50"/>
                </a:lnSpc>
              </a:pPr>
              <a:r>
                <a:rPr lang="en-US" b="true" sz="13250" i="true" spc="-265">
                  <a:solidFill>
                    <a:srgbClr val="79995D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53234" y="219075"/>
              <a:ext cx="8326363" cy="212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1589"/>
                </a:lnSpc>
              </a:pPr>
              <a:r>
                <a:rPr lang="en-US" b="true" sz="11589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olution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7861" y="3436282"/>
            <a:ext cx="6563189" cy="5677244"/>
            <a:chOff x="0" y="0"/>
            <a:chExt cx="8750918" cy="75696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81075" cy="7569658"/>
            </a:xfrm>
            <a:custGeom>
              <a:avLst/>
              <a:gdLst/>
              <a:ahLst/>
              <a:cxnLst/>
              <a:rect r="r" b="b" t="t" l="l"/>
              <a:pathLst>
                <a:path h="7569658" w="3081075">
                  <a:moveTo>
                    <a:pt x="0" y="0"/>
                  </a:moveTo>
                  <a:lnTo>
                    <a:pt x="3081075" y="0"/>
                  </a:lnTo>
                  <a:lnTo>
                    <a:pt x="3081075" y="7569658"/>
                  </a:lnTo>
                  <a:lnTo>
                    <a:pt x="0" y="7569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207" t="-5718" r="-56114" b="-6254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081075" y="774489"/>
              <a:ext cx="5669843" cy="629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9"/>
                </a:lnSpc>
                <a:spcBef>
                  <a:spcPct val="0"/>
                </a:spcBef>
              </a:pPr>
              <a:r>
                <a:rPr lang="en-US" b="true" sz="3409" spc="-68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Immutable Records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081075" y="1550359"/>
              <a:ext cx="4630229" cy="271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2"/>
                </a:lnSpc>
                <a:spcBef>
                  <a:spcPct val="0"/>
                </a:spcBef>
              </a:pP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Logs cann</a:t>
              </a: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ot be modified or deleted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081075" y="3245699"/>
              <a:ext cx="5669843" cy="629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9"/>
                </a:lnSpc>
                <a:spcBef>
                  <a:spcPct val="0"/>
                </a:spcBef>
              </a:pPr>
              <a:r>
                <a:rPr lang="en-US" b="true" sz="3409" spc="-68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Precise Timestamps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081075" y="4021568"/>
              <a:ext cx="4630229" cy="271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2"/>
                </a:lnSpc>
                <a:spcBef>
                  <a:spcPct val="0"/>
                </a:spcBef>
              </a:pP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Every even</a:t>
              </a: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t recorded with accurate time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081075" y="5722112"/>
              <a:ext cx="5669843" cy="629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9"/>
                </a:lnSpc>
                <a:spcBef>
                  <a:spcPct val="0"/>
                </a:spcBef>
              </a:pPr>
              <a:r>
                <a:rPr lang="en-US" b="true" sz="3409" spc="-68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Law 18-07 Aligned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081075" y="6497982"/>
              <a:ext cx="4630229" cy="271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2"/>
                </a:lnSpc>
                <a:spcBef>
                  <a:spcPct val="0"/>
                </a:spcBef>
              </a:pP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Ready f</a:t>
              </a: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or ANPDP audits and legal review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980769" y="3835862"/>
            <a:ext cx="8278531" cy="5422438"/>
          </a:xfrm>
          <a:custGeom>
            <a:avLst/>
            <a:gdLst/>
            <a:ahLst/>
            <a:cxnLst/>
            <a:rect r="r" b="b" t="t" l="l"/>
            <a:pathLst>
              <a:path h="5422438" w="8278531">
                <a:moveTo>
                  <a:pt x="0" y="0"/>
                </a:moveTo>
                <a:lnTo>
                  <a:pt x="8278531" y="0"/>
                </a:lnTo>
                <a:lnTo>
                  <a:pt x="8278531" y="5422438"/>
                </a:lnTo>
                <a:lnTo>
                  <a:pt x="0" y="54224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763920" y="335124"/>
            <a:ext cx="7986896" cy="2908125"/>
            <a:chOff x="0" y="0"/>
            <a:chExt cx="10649195" cy="387750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646365" y="171450"/>
              <a:ext cx="1416150" cy="1842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856"/>
                </a:lnSpc>
              </a:pPr>
              <a:r>
                <a:rPr lang="en-US" b="true" sz="9856" i="true" spc="-197">
                  <a:solidFill>
                    <a:srgbClr val="79995D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72058" y="171450"/>
              <a:ext cx="8800186" cy="15698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8620"/>
                </a:lnSpc>
              </a:pPr>
              <a:r>
                <a:rPr lang="en-US" b="true" sz="8620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egal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931793"/>
              <a:ext cx="1502011" cy="1945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453"/>
                </a:lnSpc>
              </a:pPr>
              <a:r>
                <a:rPr lang="en-US" b="true" sz="10453" i="true" spc="-209">
                  <a:solidFill>
                    <a:srgbClr val="79995D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15454" y="1912743"/>
              <a:ext cx="9333740" cy="167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9143"/>
                </a:lnSpc>
              </a:pPr>
              <a:r>
                <a:rPr lang="en-US" b="true" sz="9143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hield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622649" y="8621836"/>
            <a:ext cx="1273303" cy="1272927"/>
            <a:chOff x="0" y="0"/>
            <a:chExt cx="1697737" cy="16972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52609" y="152109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8" y="0"/>
                  </a:lnTo>
                  <a:lnTo>
                    <a:pt x="1545128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7" y="0"/>
                  </a:lnTo>
                  <a:lnTo>
                    <a:pt x="1545127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4026" y="4310360"/>
            <a:ext cx="15619948" cy="2616313"/>
            <a:chOff x="0" y="0"/>
            <a:chExt cx="20826598" cy="34884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33327"/>
              <a:ext cx="4370685" cy="3221763"/>
            </a:xfrm>
            <a:custGeom>
              <a:avLst/>
              <a:gdLst/>
              <a:ahLst/>
              <a:cxnLst/>
              <a:rect r="r" b="b" t="t" l="l"/>
              <a:pathLst>
                <a:path h="3221763" w="4370685">
                  <a:moveTo>
                    <a:pt x="0" y="0"/>
                  </a:moveTo>
                  <a:lnTo>
                    <a:pt x="4370685" y="0"/>
                  </a:lnTo>
                  <a:lnTo>
                    <a:pt x="4370685" y="3221763"/>
                  </a:lnTo>
                  <a:lnTo>
                    <a:pt x="0" y="3221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334" t="-52696" r="-45398" b="-6190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4370685" y="142875"/>
              <a:ext cx="16455913" cy="3345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16"/>
                </a:lnSpc>
              </a:pPr>
              <a:r>
                <a:rPr lang="en-US" sz="17221" spc="1618" b="true">
                  <a:solidFill>
                    <a:srgbClr val="34314B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L</a:t>
              </a:r>
              <a:r>
                <a:rPr lang="en-US" sz="17221" spc="1618" b="true">
                  <a:solidFill>
                    <a:srgbClr val="657B4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T</a:t>
              </a:r>
              <a:r>
                <a:rPr lang="en-US" sz="17221" spc="1618" b="true">
                  <a:solidFill>
                    <a:srgbClr val="34314B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R</a:t>
              </a:r>
              <a:r>
                <a:rPr lang="en-US" sz="17221" spc="1618" b="true">
                  <a:solidFill>
                    <a:srgbClr val="667C50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E</a:t>
              </a:r>
              <a:r>
                <a:rPr lang="en-US" sz="17221" spc="1618" b="true">
                  <a:solidFill>
                    <a:srgbClr val="34314B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O</a:t>
              </a:r>
              <a:r>
                <a:rPr lang="en-US" sz="17221" spc="1618" b="true">
                  <a:solidFill>
                    <a:srgbClr val="657A4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N</a:t>
              </a:r>
              <a:r>
                <a:rPr lang="en-US" sz="17221" spc="1618" b="true">
                  <a:solidFill>
                    <a:srgbClr val="34314B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?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29284" y="2084545"/>
            <a:ext cx="6220970" cy="248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6"/>
              </a:lnSpc>
            </a:pPr>
            <a:r>
              <a:rPr lang="en-US" b="true" sz="17221" spc="1618">
                <a:solidFill>
                  <a:srgbClr val="3431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WHY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8731" y="7623944"/>
            <a:ext cx="15790537" cy="100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b="true" sz="7063" spc="663">
                <a:solidFill>
                  <a:srgbClr val="34314B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Is it purely a human aspect?</a:t>
            </a:r>
          </a:p>
        </p:txBody>
      </p:sp>
    </p:spTree>
  </p:cSld>
  <p:clrMapOvr>
    <a:masterClrMapping/>
  </p:clrMapOvr>
  <p:transition spd="fast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34217" y="1028700"/>
            <a:ext cx="9734568" cy="8018851"/>
          </a:xfrm>
          <a:custGeom>
            <a:avLst/>
            <a:gdLst/>
            <a:ahLst/>
            <a:cxnLst/>
            <a:rect r="r" b="b" t="t" l="l"/>
            <a:pathLst>
              <a:path h="8018851" w="9734568">
                <a:moveTo>
                  <a:pt x="0" y="0"/>
                </a:moveTo>
                <a:lnTo>
                  <a:pt x="9734568" y="0"/>
                </a:lnTo>
                <a:lnTo>
                  <a:pt x="9734568" y="8018851"/>
                </a:lnTo>
                <a:lnTo>
                  <a:pt x="0" y="8018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142355"/>
            <a:ext cx="6664803" cy="2327136"/>
            <a:chOff x="0" y="0"/>
            <a:chExt cx="8886404" cy="31028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42875"/>
              <a:ext cx="1170124" cy="1521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43"/>
                </a:lnSpc>
              </a:pPr>
              <a:r>
                <a:rPr lang="en-US" b="true" sz="8143" i="true" spc="-162">
                  <a:solidFill>
                    <a:srgbClr val="79995D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615066" y="133350"/>
              <a:ext cx="7271338" cy="1305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122"/>
                </a:lnSpc>
              </a:pPr>
              <a:r>
                <a:rPr lang="en-US" b="true" sz="7122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rchitecture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72962" y="1468426"/>
              <a:ext cx="1170124" cy="1634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709"/>
                </a:lnSpc>
              </a:pPr>
              <a:r>
                <a:rPr lang="en-US" sz="8709" i="true" spc="-174">
                  <a:solidFill>
                    <a:srgbClr val="79995D"/>
                  </a:solidFill>
                  <a:latin typeface="The Seasons Italics"/>
                  <a:ea typeface="The Seasons Italics"/>
                  <a:cs typeface="The Seasons Italics"/>
                  <a:sym typeface="The Seasons Italics"/>
                </a:rPr>
                <a:t>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15066" y="1345772"/>
              <a:ext cx="7271338" cy="13054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122"/>
                </a:lnSpc>
              </a:pPr>
              <a:r>
                <a:rPr lang="en-US" b="true" sz="7122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verview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860016"/>
            <a:ext cx="5894614" cy="5484009"/>
            <a:chOff x="0" y="0"/>
            <a:chExt cx="7859485" cy="73120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7993" cy="7312012"/>
            </a:xfrm>
            <a:custGeom>
              <a:avLst/>
              <a:gdLst/>
              <a:ahLst/>
              <a:cxnLst/>
              <a:rect r="r" b="b" t="t" l="l"/>
              <a:pathLst>
                <a:path h="7312012" w="1887993">
                  <a:moveTo>
                    <a:pt x="0" y="0"/>
                  </a:moveTo>
                  <a:lnTo>
                    <a:pt x="1887993" y="0"/>
                  </a:lnTo>
                  <a:lnTo>
                    <a:pt x="1887993" y="7312012"/>
                  </a:lnTo>
                  <a:lnTo>
                    <a:pt x="0" y="7312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6321" t="-2959" r="-10274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189642" y="219571"/>
              <a:ext cx="1686401" cy="629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9"/>
                </a:lnSpc>
                <a:spcBef>
                  <a:spcPct val="0"/>
                </a:spcBef>
              </a:pPr>
              <a:r>
                <a:rPr lang="en-US" b="true" sz="3409" spc="-68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Report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189642" y="1016013"/>
              <a:ext cx="5669843" cy="513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2"/>
                </a:lnSpc>
                <a:spcBef>
                  <a:spcPct val="0"/>
                </a:spcBef>
              </a:pP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Employee</a:t>
              </a: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s report incidents in seconds through a simple, guided interface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189642" y="2111804"/>
              <a:ext cx="3478848" cy="629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09"/>
                </a:lnSpc>
                <a:spcBef>
                  <a:spcPct val="0"/>
                </a:spcBef>
              </a:pPr>
              <a:r>
                <a:rPr lang="en-US" b="true" sz="3409" spc="-68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AI Processing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189642" y="2908246"/>
              <a:ext cx="5669843" cy="513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2"/>
                </a:lnSpc>
                <a:spcBef>
                  <a:spcPct val="0"/>
                </a:spcBef>
              </a:pP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AI analyze</a:t>
              </a: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s the report, extracts context, and classifies the threat automatically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189642" y="3859490"/>
              <a:ext cx="1931035" cy="629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9"/>
                </a:lnSpc>
                <a:spcBef>
                  <a:spcPct val="0"/>
                </a:spcBef>
              </a:pPr>
              <a:r>
                <a:rPr lang="en-US" b="true" sz="3409" spc="-68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Routing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189642" y="4655932"/>
              <a:ext cx="5669843" cy="513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2"/>
                </a:lnSpc>
                <a:spcBef>
                  <a:spcPct val="0"/>
                </a:spcBef>
              </a:pP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Incident</a:t>
              </a: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s are instantly routed to the right team with prioritized actions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189642" y="5607176"/>
              <a:ext cx="2371015" cy="629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09"/>
                </a:lnSpc>
                <a:spcBef>
                  <a:spcPct val="0"/>
                </a:spcBef>
              </a:pPr>
              <a:r>
                <a:rPr lang="en-US" b="true" sz="3409" spc="-68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Logging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189642" y="6403618"/>
              <a:ext cx="5669843" cy="513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2"/>
                </a:lnSpc>
                <a:spcBef>
                  <a:spcPct val="0"/>
                </a:spcBef>
              </a:pP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Every</a:t>
              </a:r>
              <a:r>
                <a:rPr lang="en-US" sz="1462" spc="-29">
                  <a:solidFill>
                    <a:srgbClr val="34314B"/>
                  </a:solidFill>
                  <a:latin typeface="Antic Bold"/>
                  <a:ea typeface="Antic Bold"/>
                  <a:cs typeface="Antic Bold"/>
                  <a:sym typeface="Antic Bold"/>
                </a:rPr>
                <a:t> step is securely logged to create an immutable audit trail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622649" y="8707561"/>
            <a:ext cx="1273303" cy="1272927"/>
            <a:chOff x="0" y="0"/>
            <a:chExt cx="1697737" cy="16972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52609" y="152109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8" y="0"/>
                  </a:lnTo>
                  <a:lnTo>
                    <a:pt x="1545128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7" y="0"/>
                  </a:lnTo>
                  <a:lnTo>
                    <a:pt x="1545127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7185" y="3619925"/>
            <a:ext cx="16593630" cy="4978450"/>
            <a:chOff x="0" y="0"/>
            <a:chExt cx="22124840" cy="6637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24840" cy="6012938"/>
            </a:xfrm>
            <a:custGeom>
              <a:avLst/>
              <a:gdLst/>
              <a:ahLst/>
              <a:cxnLst/>
              <a:rect r="r" b="b" t="t" l="l"/>
              <a:pathLst>
                <a:path h="6012938" w="22124840">
                  <a:moveTo>
                    <a:pt x="0" y="0"/>
                  </a:moveTo>
                  <a:lnTo>
                    <a:pt x="22124840" y="0"/>
                  </a:lnTo>
                  <a:lnTo>
                    <a:pt x="22124840" y="6012938"/>
                  </a:lnTo>
                  <a:lnTo>
                    <a:pt x="0" y="6012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05" t="-70837" r="-28877" b="-719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877156" y="5492717"/>
              <a:ext cx="3739337" cy="1145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03"/>
                </a:lnSpc>
                <a:spcBef>
                  <a:spcPct val="0"/>
                </a:spcBef>
              </a:pPr>
              <a:r>
                <a:rPr lang="en-US" b="true" sz="6203" spc="-124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Fast API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834280" y="5492717"/>
              <a:ext cx="2666931" cy="1145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03"/>
                </a:lnSpc>
                <a:spcBef>
                  <a:spcPct val="0"/>
                </a:spcBef>
              </a:pPr>
              <a:r>
                <a:rPr lang="en-US" b="true" sz="6203" spc="-124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React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2124574" y="5492717"/>
              <a:ext cx="2726805" cy="1145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03"/>
                </a:lnSpc>
                <a:spcBef>
                  <a:spcPct val="0"/>
                </a:spcBef>
              </a:pPr>
              <a:r>
                <a:rPr lang="en-US" b="true" sz="6203" spc="-124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Sqlite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5735301" y="5492717"/>
              <a:ext cx="6190015" cy="1145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03"/>
                </a:lnSpc>
                <a:spcBef>
                  <a:spcPct val="0"/>
                </a:spcBef>
              </a:pPr>
              <a:r>
                <a:rPr lang="en-US" b="true" sz="6203" spc="-124">
                  <a:solidFill>
                    <a:srgbClr val="34314B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Deepseek V4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86260" y="622334"/>
            <a:ext cx="11260172" cy="2053603"/>
            <a:chOff x="0" y="0"/>
            <a:chExt cx="15013562" cy="273813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47650"/>
              <a:ext cx="2297058" cy="2490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75"/>
                </a:lnSpc>
              </a:pPr>
              <a:r>
                <a:rPr lang="en-US" b="true" sz="13275" i="true" spc="-265">
                  <a:solidFill>
                    <a:srgbClr val="5D7D49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556126" y="228600"/>
              <a:ext cx="8341868" cy="211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1611"/>
                </a:lnSpc>
              </a:pPr>
              <a:r>
                <a:rPr lang="en-US" b="true" sz="11611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ech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115568" y="247650"/>
              <a:ext cx="2297058" cy="2490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75"/>
                </a:lnSpc>
              </a:pPr>
              <a:r>
                <a:rPr lang="en-US" b="true" sz="13275" i="true" spc="-265">
                  <a:solidFill>
                    <a:srgbClr val="5D7D49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671694" y="228600"/>
              <a:ext cx="8341868" cy="211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1611"/>
                </a:lnSpc>
              </a:pPr>
              <a:r>
                <a:rPr lang="en-US" b="true" sz="11611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tack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7085" y="4634903"/>
            <a:ext cx="17573830" cy="3295093"/>
          </a:xfrm>
          <a:custGeom>
            <a:avLst/>
            <a:gdLst/>
            <a:ahLst/>
            <a:cxnLst/>
            <a:rect r="r" b="b" t="t" l="l"/>
            <a:pathLst>
              <a:path h="3295093" w="17573830">
                <a:moveTo>
                  <a:pt x="0" y="0"/>
                </a:moveTo>
                <a:lnTo>
                  <a:pt x="17573830" y="0"/>
                </a:lnTo>
                <a:lnTo>
                  <a:pt x="17573830" y="3295093"/>
                </a:lnTo>
                <a:lnTo>
                  <a:pt x="0" y="3295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71114" y="746119"/>
            <a:ext cx="6120753" cy="1677551"/>
            <a:chOff x="0" y="0"/>
            <a:chExt cx="8161003" cy="223673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0025"/>
              <a:ext cx="1893949" cy="20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45"/>
                </a:lnSpc>
              </a:pPr>
              <a:r>
                <a:rPr lang="en-US" b="true" sz="10945" i="true" spc="-218">
                  <a:solidFill>
                    <a:srgbClr val="79995D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283043" y="190500"/>
              <a:ext cx="6877960" cy="1743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9573"/>
                </a:lnSpc>
              </a:pPr>
              <a:r>
                <a:rPr lang="en-US" b="true" sz="9573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29951" y="2047041"/>
            <a:ext cx="5408612" cy="1677551"/>
            <a:chOff x="0" y="0"/>
            <a:chExt cx="7211482" cy="223673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0025"/>
              <a:ext cx="1893949" cy="203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945"/>
                </a:lnSpc>
              </a:pPr>
              <a:r>
                <a:rPr lang="en-US" b="true" sz="10945" i="true" spc="-218">
                  <a:solidFill>
                    <a:srgbClr val="79995D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33522" y="190500"/>
              <a:ext cx="6877960" cy="1749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73"/>
                </a:lnSpc>
              </a:pPr>
              <a:r>
                <a:rPr lang="en-US" b="true" sz="9573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esign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4900" y="2798603"/>
            <a:ext cx="15578201" cy="6698626"/>
          </a:xfrm>
          <a:custGeom>
            <a:avLst/>
            <a:gdLst/>
            <a:ahLst/>
            <a:cxnLst/>
            <a:rect r="r" b="b" t="t" l="l"/>
            <a:pathLst>
              <a:path h="6698626" w="15578201">
                <a:moveTo>
                  <a:pt x="0" y="0"/>
                </a:moveTo>
                <a:lnTo>
                  <a:pt x="15578200" y="0"/>
                </a:lnTo>
                <a:lnTo>
                  <a:pt x="15578200" y="6698626"/>
                </a:lnTo>
                <a:lnTo>
                  <a:pt x="0" y="6698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067235" y="4308835"/>
            <a:ext cx="2634235" cy="457705"/>
            <a:chOff x="0" y="0"/>
            <a:chExt cx="693790" cy="1205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3790" cy="120548"/>
            </a:xfrm>
            <a:custGeom>
              <a:avLst/>
              <a:gdLst/>
              <a:ahLst/>
              <a:cxnLst/>
              <a:rect r="r" b="b" t="t" l="l"/>
              <a:pathLst>
                <a:path h="120548" w="693790">
                  <a:moveTo>
                    <a:pt x="47023" y="0"/>
                  </a:moveTo>
                  <a:lnTo>
                    <a:pt x="646767" y="0"/>
                  </a:lnTo>
                  <a:cubicBezTo>
                    <a:pt x="659238" y="0"/>
                    <a:pt x="671199" y="4954"/>
                    <a:pt x="680017" y="13773"/>
                  </a:cubicBezTo>
                  <a:cubicBezTo>
                    <a:pt x="688836" y="22591"/>
                    <a:pt x="693790" y="34552"/>
                    <a:pt x="693790" y="47023"/>
                  </a:cubicBezTo>
                  <a:lnTo>
                    <a:pt x="693790" y="73524"/>
                  </a:lnTo>
                  <a:cubicBezTo>
                    <a:pt x="693790" y="85996"/>
                    <a:pt x="688836" y="97956"/>
                    <a:pt x="680017" y="106775"/>
                  </a:cubicBezTo>
                  <a:cubicBezTo>
                    <a:pt x="671199" y="115593"/>
                    <a:pt x="659238" y="120548"/>
                    <a:pt x="646767" y="120548"/>
                  </a:cubicBezTo>
                  <a:lnTo>
                    <a:pt x="47023" y="120548"/>
                  </a:lnTo>
                  <a:cubicBezTo>
                    <a:pt x="34552" y="120548"/>
                    <a:pt x="22591" y="115593"/>
                    <a:pt x="13773" y="106775"/>
                  </a:cubicBezTo>
                  <a:cubicBezTo>
                    <a:pt x="4954" y="97956"/>
                    <a:pt x="0" y="85996"/>
                    <a:pt x="0" y="73524"/>
                  </a:cubicBezTo>
                  <a:lnTo>
                    <a:pt x="0" y="47023"/>
                  </a:lnTo>
                  <a:cubicBezTo>
                    <a:pt x="0" y="34552"/>
                    <a:pt x="4954" y="22591"/>
                    <a:pt x="13773" y="13773"/>
                  </a:cubicBezTo>
                  <a:cubicBezTo>
                    <a:pt x="22591" y="4954"/>
                    <a:pt x="34552" y="0"/>
                    <a:pt x="47023" y="0"/>
                  </a:cubicBezTo>
                  <a:close/>
                </a:path>
              </a:pathLst>
            </a:custGeom>
            <a:solidFill>
              <a:srgbClr val="79995D">
                <a:alpha val="4588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693790" cy="10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007538" y="546119"/>
            <a:ext cx="7409698" cy="2030820"/>
            <a:chOff x="0" y="0"/>
            <a:chExt cx="9879597" cy="270776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38125"/>
              <a:ext cx="2292789" cy="2469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50"/>
                </a:lnSpc>
              </a:pPr>
              <a:r>
                <a:rPr lang="en-US" b="true" sz="13250" i="true" spc="-265">
                  <a:solidFill>
                    <a:srgbClr val="79995D"/>
                  </a:solidFill>
                  <a:latin typeface="The Seasons Bold Italics"/>
                  <a:ea typeface="The Seasons Bold Italics"/>
                  <a:cs typeface="The Seasons Bold Italics"/>
                  <a:sym typeface="The Seasons Bold Italics"/>
                </a:rPr>
                <a:t>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53234" y="219075"/>
              <a:ext cx="8326363" cy="212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1589"/>
                </a:lnSpc>
              </a:pPr>
              <a:r>
                <a:rPr lang="en-US" b="true" sz="11589" i="true">
                  <a:solidFill>
                    <a:srgbClr val="34314B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ogs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33000" y="7499081"/>
            <a:ext cx="1279387" cy="457705"/>
            <a:chOff x="0" y="0"/>
            <a:chExt cx="336958" cy="1205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6958" cy="120548"/>
            </a:xfrm>
            <a:custGeom>
              <a:avLst/>
              <a:gdLst/>
              <a:ahLst/>
              <a:cxnLst/>
              <a:rect r="r" b="b" t="t" l="l"/>
              <a:pathLst>
                <a:path h="120548" w="336958">
                  <a:moveTo>
                    <a:pt x="60274" y="0"/>
                  </a:moveTo>
                  <a:lnTo>
                    <a:pt x="276684" y="0"/>
                  </a:lnTo>
                  <a:cubicBezTo>
                    <a:pt x="309973" y="0"/>
                    <a:pt x="336958" y="26986"/>
                    <a:pt x="336958" y="60274"/>
                  </a:cubicBezTo>
                  <a:lnTo>
                    <a:pt x="336958" y="60274"/>
                  </a:lnTo>
                  <a:cubicBezTo>
                    <a:pt x="336958" y="93562"/>
                    <a:pt x="309973" y="120548"/>
                    <a:pt x="276684" y="120548"/>
                  </a:cubicBezTo>
                  <a:lnTo>
                    <a:pt x="60274" y="120548"/>
                  </a:lnTo>
                  <a:cubicBezTo>
                    <a:pt x="26986" y="120548"/>
                    <a:pt x="0" y="93562"/>
                    <a:pt x="0" y="60274"/>
                  </a:cubicBezTo>
                  <a:lnTo>
                    <a:pt x="0" y="60274"/>
                  </a:lnTo>
                  <a:cubicBezTo>
                    <a:pt x="0" y="26986"/>
                    <a:pt x="26986" y="0"/>
                    <a:pt x="60274" y="0"/>
                  </a:cubicBezTo>
                  <a:close/>
                </a:path>
              </a:pathLst>
            </a:custGeom>
            <a:solidFill>
              <a:srgbClr val="79995D">
                <a:alpha val="4588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336958" cy="10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972451" y="4308835"/>
            <a:ext cx="1463977" cy="457705"/>
            <a:chOff x="0" y="0"/>
            <a:chExt cx="385574" cy="120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5574" cy="120548"/>
            </a:xfrm>
            <a:custGeom>
              <a:avLst/>
              <a:gdLst/>
              <a:ahLst/>
              <a:cxnLst/>
              <a:rect r="r" b="b" t="t" l="l"/>
              <a:pathLst>
                <a:path h="120548" w="385574">
                  <a:moveTo>
                    <a:pt x="60274" y="0"/>
                  </a:moveTo>
                  <a:lnTo>
                    <a:pt x="325300" y="0"/>
                  </a:lnTo>
                  <a:cubicBezTo>
                    <a:pt x="358589" y="0"/>
                    <a:pt x="385574" y="26986"/>
                    <a:pt x="385574" y="60274"/>
                  </a:cubicBezTo>
                  <a:lnTo>
                    <a:pt x="385574" y="60274"/>
                  </a:lnTo>
                  <a:cubicBezTo>
                    <a:pt x="385574" y="93562"/>
                    <a:pt x="358589" y="120548"/>
                    <a:pt x="325300" y="120548"/>
                  </a:cubicBezTo>
                  <a:lnTo>
                    <a:pt x="60274" y="120548"/>
                  </a:lnTo>
                  <a:cubicBezTo>
                    <a:pt x="26986" y="120548"/>
                    <a:pt x="0" y="93562"/>
                    <a:pt x="0" y="60274"/>
                  </a:cubicBezTo>
                  <a:lnTo>
                    <a:pt x="0" y="60274"/>
                  </a:lnTo>
                  <a:cubicBezTo>
                    <a:pt x="0" y="26986"/>
                    <a:pt x="26986" y="0"/>
                    <a:pt x="60274" y="0"/>
                  </a:cubicBezTo>
                  <a:close/>
                </a:path>
              </a:pathLst>
            </a:custGeom>
            <a:solidFill>
              <a:srgbClr val="79995D">
                <a:alpha val="4588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385574" cy="10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40452" y="5919064"/>
            <a:ext cx="2588092" cy="457705"/>
            <a:chOff x="0" y="0"/>
            <a:chExt cx="681637" cy="1205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1637" cy="120548"/>
            </a:xfrm>
            <a:custGeom>
              <a:avLst/>
              <a:gdLst/>
              <a:ahLst/>
              <a:cxnLst/>
              <a:rect r="r" b="b" t="t" l="l"/>
              <a:pathLst>
                <a:path h="120548" w="681637">
                  <a:moveTo>
                    <a:pt x="47862" y="0"/>
                  </a:moveTo>
                  <a:lnTo>
                    <a:pt x="633776" y="0"/>
                  </a:lnTo>
                  <a:cubicBezTo>
                    <a:pt x="646469" y="0"/>
                    <a:pt x="658643" y="5043"/>
                    <a:pt x="667619" y="14018"/>
                  </a:cubicBezTo>
                  <a:cubicBezTo>
                    <a:pt x="676595" y="22994"/>
                    <a:pt x="681637" y="35168"/>
                    <a:pt x="681637" y="47862"/>
                  </a:cubicBezTo>
                  <a:lnTo>
                    <a:pt x="681637" y="72686"/>
                  </a:lnTo>
                  <a:cubicBezTo>
                    <a:pt x="681637" y="99119"/>
                    <a:pt x="660209" y="120548"/>
                    <a:pt x="633776" y="120548"/>
                  </a:cubicBezTo>
                  <a:lnTo>
                    <a:pt x="47862" y="120548"/>
                  </a:lnTo>
                  <a:cubicBezTo>
                    <a:pt x="35168" y="120548"/>
                    <a:pt x="22994" y="115505"/>
                    <a:pt x="14018" y="106529"/>
                  </a:cubicBezTo>
                  <a:cubicBezTo>
                    <a:pt x="5043" y="97553"/>
                    <a:pt x="0" y="85380"/>
                    <a:pt x="0" y="72686"/>
                  </a:cubicBezTo>
                  <a:lnTo>
                    <a:pt x="0" y="47862"/>
                  </a:lnTo>
                  <a:cubicBezTo>
                    <a:pt x="0" y="21428"/>
                    <a:pt x="21428" y="0"/>
                    <a:pt x="47862" y="0"/>
                  </a:cubicBezTo>
                  <a:close/>
                </a:path>
              </a:pathLst>
            </a:custGeom>
            <a:solidFill>
              <a:srgbClr val="79995D">
                <a:alpha val="4588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681637" cy="10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622649" y="8621836"/>
            <a:ext cx="1273303" cy="1272927"/>
            <a:chOff x="0" y="0"/>
            <a:chExt cx="1697737" cy="16972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52609" y="152109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8" y="0"/>
                  </a:lnTo>
                  <a:lnTo>
                    <a:pt x="1545128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45127" cy="1545127"/>
            </a:xfrm>
            <a:custGeom>
              <a:avLst/>
              <a:gdLst/>
              <a:ahLst/>
              <a:cxnLst/>
              <a:rect r="r" b="b" t="t" l="l"/>
              <a:pathLst>
                <a:path h="1545127" w="1545127">
                  <a:moveTo>
                    <a:pt x="0" y="0"/>
                  </a:moveTo>
                  <a:lnTo>
                    <a:pt x="1545127" y="0"/>
                  </a:lnTo>
                  <a:lnTo>
                    <a:pt x="1545127" y="1545127"/>
                  </a:lnTo>
                  <a:lnTo>
                    <a:pt x="0" y="1545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21735" y="1107913"/>
            <a:ext cx="6244531" cy="8066278"/>
          </a:xfrm>
          <a:custGeom>
            <a:avLst/>
            <a:gdLst/>
            <a:ahLst/>
            <a:cxnLst/>
            <a:rect r="r" b="b" t="t" l="l"/>
            <a:pathLst>
              <a:path h="8066278" w="6244531">
                <a:moveTo>
                  <a:pt x="0" y="0"/>
                </a:moveTo>
                <a:lnTo>
                  <a:pt x="6244530" y="0"/>
                </a:lnTo>
                <a:lnTo>
                  <a:pt x="6244530" y="8066278"/>
                </a:lnTo>
                <a:lnTo>
                  <a:pt x="0" y="8066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541" t="-1736" r="-70216" b="-179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17579" y="1354207"/>
            <a:ext cx="652843" cy="65284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E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56930" y="1354207"/>
            <a:ext cx="574139" cy="423215"/>
          </a:xfrm>
          <a:custGeom>
            <a:avLst/>
            <a:gdLst/>
            <a:ahLst/>
            <a:cxnLst/>
            <a:rect r="r" b="b" t="t" l="l"/>
            <a:pathLst>
              <a:path h="423215" w="574139">
                <a:moveTo>
                  <a:pt x="0" y="0"/>
                </a:moveTo>
                <a:lnTo>
                  <a:pt x="574140" y="0"/>
                </a:lnTo>
                <a:lnTo>
                  <a:pt x="574140" y="423215"/>
                </a:lnTo>
                <a:lnTo>
                  <a:pt x="0" y="4232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334" t="-52696" r="-45398" b="-61901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376719" y="4362253"/>
            <a:ext cx="2652083" cy="663918"/>
            <a:chOff x="0" y="0"/>
            <a:chExt cx="698491" cy="1748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491" cy="174859"/>
            </a:xfrm>
            <a:custGeom>
              <a:avLst/>
              <a:gdLst/>
              <a:ahLst/>
              <a:cxnLst/>
              <a:rect r="r" b="b" t="t" l="l"/>
              <a:pathLst>
                <a:path h="174859" w="698491">
                  <a:moveTo>
                    <a:pt x="61303" y="0"/>
                  </a:moveTo>
                  <a:lnTo>
                    <a:pt x="637188" y="0"/>
                  </a:lnTo>
                  <a:cubicBezTo>
                    <a:pt x="653447" y="0"/>
                    <a:pt x="669039" y="6459"/>
                    <a:pt x="680536" y="17955"/>
                  </a:cubicBezTo>
                  <a:cubicBezTo>
                    <a:pt x="692032" y="29452"/>
                    <a:pt x="698491" y="45044"/>
                    <a:pt x="698491" y="61303"/>
                  </a:cubicBezTo>
                  <a:lnTo>
                    <a:pt x="698491" y="113556"/>
                  </a:lnTo>
                  <a:cubicBezTo>
                    <a:pt x="698491" y="129815"/>
                    <a:pt x="692032" y="145407"/>
                    <a:pt x="680536" y="156904"/>
                  </a:cubicBezTo>
                  <a:cubicBezTo>
                    <a:pt x="669039" y="168400"/>
                    <a:pt x="653447" y="174859"/>
                    <a:pt x="637188" y="174859"/>
                  </a:cubicBezTo>
                  <a:lnTo>
                    <a:pt x="61303" y="174859"/>
                  </a:lnTo>
                  <a:cubicBezTo>
                    <a:pt x="45044" y="174859"/>
                    <a:pt x="29452" y="168400"/>
                    <a:pt x="17955" y="156904"/>
                  </a:cubicBezTo>
                  <a:cubicBezTo>
                    <a:pt x="6459" y="145407"/>
                    <a:pt x="0" y="129815"/>
                    <a:pt x="0" y="113556"/>
                  </a:cubicBezTo>
                  <a:lnTo>
                    <a:pt x="0" y="61303"/>
                  </a:lnTo>
                  <a:cubicBezTo>
                    <a:pt x="0" y="45044"/>
                    <a:pt x="6459" y="29452"/>
                    <a:pt x="17955" y="17955"/>
                  </a:cubicBezTo>
                  <a:cubicBezTo>
                    <a:pt x="29452" y="6459"/>
                    <a:pt x="45044" y="0"/>
                    <a:pt x="61303" y="0"/>
                  </a:cubicBezTo>
                  <a:close/>
                </a:path>
              </a:pathLst>
            </a:custGeom>
            <a:ln w="38100" cap="rnd">
              <a:solidFill>
                <a:srgbClr val="1B6B4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698491" cy="155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20940" y="6871071"/>
            <a:ext cx="3156146" cy="602223"/>
            <a:chOff x="0" y="0"/>
            <a:chExt cx="831248" cy="1585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1248" cy="158541"/>
            </a:xfrm>
            <a:custGeom>
              <a:avLst/>
              <a:gdLst/>
              <a:ahLst/>
              <a:cxnLst/>
              <a:rect r="r" b="b" t="t" l="l"/>
              <a:pathLst>
                <a:path h="158541" w="831248">
                  <a:moveTo>
                    <a:pt x="588368" y="0"/>
                  </a:moveTo>
                  <a:lnTo>
                    <a:pt x="831248" y="46324"/>
                  </a:lnTo>
                  <a:lnTo>
                    <a:pt x="831248" y="112217"/>
                  </a:lnTo>
                  <a:lnTo>
                    <a:pt x="588368" y="158541"/>
                  </a:lnTo>
                  <a:lnTo>
                    <a:pt x="242880" y="158541"/>
                  </a:lnTo>
                  <a:lnTo>
                    <a:pt x="0" y="112217"/>
                  </a:lnTo>
                  <a:lnTo>
                    <a:pt x="0" y="46324"/>
                  </a:lnTo>
                  <a:lnTo>
                    <a:pt x="24288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21440" y="42212"/>
              <a:ext cx="588368" cy="93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6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477543" y="6973099"/>
            <a:ext cx="1315641" cy="11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"/>
              </a:lnSpc>
              <a:spcBef>
                <a:spcPct val="0"/>
              </a:spcBef>
            </a:pPr>
            <a:r>
              <a:rPr lang="en-US" sz="962" spc="-19">
                <a:solidFill>
                  <a:srgbClr val="000000">
                    <a:alpha val="7098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 downloaded  a file </a:t>
            </a:r>
          </a:p>
        </p:txBody>
      </p:sp>
    </p:spTree>
  </p:cSld>
  <p:clrMapOvr>
    <a:masterClrMapping/>
  </p:clrMapOvr>
  <p:transition spd="fast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50082" y="-51262"/>
            <a:ext cx="21491868" cy="11619809"/>
          </a:xfrm>
          <a:custGeom>
            <a:avLst/>
            <a:gdLst/>
            <a:ahLst/>
            <a:cxnLst/>
            <a:rect r="r" b="b" t="t" l="l"/>
            <a:pathLst>
              <a:path h="11619809" w="21491868">
                <a:moveTo>
                  <a:pt x="0" y="0"/>
                </a:moveTo>
                <a:lnTo>
                  <a:pt x="21491868" y="0"/>
                </a:lnTo>
                <a:lnTo>
                  <a:pt x="21491868" y="11619809"/>
                </a:lnTo>
                <a:lnTo>
                  <a:pt x="0" y="11619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29" t="0" r="-1929" b="-8053"/>
            </a:stretch>
          </a:blipFill>
        </p:spPr>
      </p:sp>
    </p:spTree>
  </p:cSld>
  <p:clrMapOvr>
    <a:masterClrMapping/>
  </p:clrMapOvr>
  <p:transition spd="fast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46241" cy="10287000"/>
          </a:xfrm>
          <a:custGeom>
            <a:avLst/>
            <a:gdLst/>
            <a:ahLst/>
            <a:cxnLst/>
            <a:rect r="r" b="b" t="t" l="l"/>
            <a:pathLst>
              <a:path h="10287000" w="18746241">
                <a:moveTo>
                  <a:pt x="0" y="0"/>
                </a:moveTo>
                <a:lnTo>
                  <a:pt x="18746241" y="0"/>
                </a:lnTo>
                <a:lnTo>
                  <a:pt x="187462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06241" y="3611490"/>
            <a:ext cx="12933759" cy="329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30"/>
              </a:lnSpc>
            </a:pPr>
            <a:r>
              <a:rPr lang="en-US" b="true" sz="12630" spc="-252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THANK YOU</a:t>
            </a:r>
          </a:p>
          <a:p>
            <a:pPr algn="ctr">
              <a:lnSpc>
                <a:spcPts val="12630"/>
              </a:lnSpc>
              <a:spcBef>
                <a:spcPct val="0"/>
              </a:spcBef>
            </a:pPr>
            <a:r>
              <a:rPr lang="en-US" b="true" sz="12630" spc="-252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FOR YOUR TIME</a:t>
            </a:r>
          </a:p>
        </p:txBody>
      </p:sp>
    </p:spTree>
  </p:cSld>
  <p:clrMapOvr>
    <a:masterClrMapping/>
  </p:clrMapOvr>
  <p:transition spd="fast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DAHIhtO8MSY</dc:identifier>
  <dcterms:modified xsi:type="dcterms:W3CDTF">2011-08-01T06:04:30Z</dcterms:modified>
  <cp:revision>1</cp:revision>
  <dc:title>ALTREON</dc:title>
</cp:coreProperties>
</file>